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6" r:id="rId4"/>
    <p:sldId id="263" r:id="rId5"/>
    <p:sldId id="259" r:id="rId6"/>
    <p:sldId id="260" r:id="rId7"/>
    <p:sldId id="261" r:id="rId8"/>
    <p:sldId id="262"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5DDEA-60EF-42C5-8599-A2BCE25BE4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34096F-6FB2-45BA-A646-E58A651632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B9FE7E4-444B-47D6-9752-6043424E4002}"/>
              </a:ext>
            </a:extLst>
          </p:cNvPr>
          <p:cNvSpPr>
            <a:spLocks noGrp="1"/>
          </p:cNvSpPr>
          <p:nvPr>
            <p:ph type="dt" sz="half" idx="10"/>
          </p:nvPr>
        </p:nvSpPr>
        <p:spPr/>
        <p:txBody>
          <a:bodyPr/>
          <a:lstStyle/>
          <a:p>
            <a:fld id="{D6C1EC16-718C-49E3-8C8A-5067CA630D78}" type="datetimeFigureOut">
              <a:rPr lang="en-US" smtClean="0"/>
              <a:t>9/6/2020</a:t>
            </a:fld>
            <a:endParaRPr lang="en-US"/>
          </a:p>
        </p:txBody>
      </p:sp>
      <p:sp>
        <p:nvSpPr>
          <p:cNvPr id="5" name="Footer Placeholder 4">
            <a:extLst>
              <a:ext uri="{FF2B5EF4-FFF2-40B4-BE49-F238E27FC236}">
                <a16:creationId xmlns:a16="http://schemas.microsoft.com/office/drawing/2014/main" id="{386803F5-61D8-4644-80CC-64B4E3D0F4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76A4C-179F-442D-B81D-AF8A85E74779}"/>
              </a:ext>
            </a:extLst>
          </p:cNvPr>
          <p:cNvSpPr>
            <a:spLocks noGrp="1"/>
          </p:cNvSpPr>
          <p:nvPr>
            <p:ph type="sldNum" sz="quarter" idx="12"/>
          </p:nvPr>
        </p:nvSpPr>
        <p:spPr/>
        <p:txBody>
          <a:bodyPr/>
          <a:lstStyle/>
          <a:p>
            <a:fld id="{A11EB424-5727-4371-A3D2-110854578BA9}" type="slidenum">
              <a:rPr lang="en-US" smtClean="0"/>
              <a:t>‹#›</a:t>
            </a:fld>
            <a:endParaRPr lang="en-US"/>
          </a:p>
        </p:txBody>
      </p:sp>
    </p:spTree>
    <p:extLst>
      <p:ext uri="{BB962C8B-B14F-4D97-AF65-F5344CB8AC3E}">
        <p14:creationId xmlns:p14="http://schemas.microsoft.com/office/powerpoint/2010/main" val="4086735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11CB8-4CE9-4437-BC77-8BDFD5FE45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A1F6C8-9FA2-4A0B-A780-B38FD99A62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E0036E-BC1B-43C3-8BE0-A646827909D5}"/>
              </a:ext>
            </a:extLst>
          </p:cNvPr>
          <p:cNvSpPr>
            <a:spLocks noGrp="1"/>
          </p:cNvSpPr>
          <p:nvPr>
            <p:ph type="dt" sz="half" idx="10"/>
          </p:nvPr>
        </p:nvSpPr>
        <p:spPr/>
        <p:txBody>
          <a:bodyPr/>
          <a:lstStyle/>
          <a:p>
            <a:fld id="{D6C1EC16-718C-49E3-8C8A-5067CA630D78}" type="datetimeFigureOut">
              <a:rPr lang="en-US" smtClean="0"/>
              <a:t>9/6/2020</a:t>
            </a:fld>
            <a:endParaRPr lang="en-US"/>
          </a:p>
        </p:txBody>
      </p:sp>
      <p:sp>
        <p:nvSpPr>
          <p:cNvPr id="5" name="Footer Placeholder 4">
            <a:extLst>
              <a:ext uri="{FF2B5EF4-FFF2-40B4-BE49-F238E27FC236}">
                <a16:creationId xmlns:a16="http://schemas.microsoft.com/office/drawing/2014/main" id="{E1C90D42-0E6D-42DB-B15B-D564AA124D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740256-5A66-4854-9000-A306F5319845}"/>
              </a:ext>
            </a:extLst>
          </p:cNvPr>
          <p:cNvSpPr>
            <a:spLocks noGrp="1"/>
          </p:cNvSpPr>
          <p:nvPr>
            <p:ph type="sldNum" sz="quarter" idx="12"/>
          </p:nvPr>
        </p:nvSpPr>
        <p:spPr/>
        <p:txBody>
          <a:bodyPr/>
          <a:lstStyle/>
          <a:p>
            <a:fld id="{A11EB424-5727-4371-A3D2-110854578BA9}" type="slidenum">
              <a:rPr lang="en-US" smtClean="0"/>
              <a:t>‹#›</a:t>
            </a:fld>
            <a:endParaRPr lang="en-US"/>
          </a:p>
        </p:txBody>
      </p:sp>
    </p:spTree>
    <p:extLst>
      <p:ext uri="{BB962C8B-B14F-4D97-AF65-F5344CB8AC3E}">
        <p14:creationId xmlns:p14="http://schemas.microsoft.com/office/powerpoint/2010/main" val="2425658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6CDDE-7A3F-4B74-9CF3-179D3AE60A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5F249DF-8DD7-400D-9F6D-FCCE952083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A5D4B6-37FA-41DE-BCE5-F0AEE54851E2}"/>
              </a:ext>
            </a:extLst>
          </p:cNvPr>
          <p:cNvSpPr>
            <a:spLocks noGrp="1"/>
          </p:cNvSpPr>
          <p:nvPr>
            <p:ph type="dt" sz="half" idx="10"/>
          </p:nvPr>
        </p:nvSpPr>
        <p:spPr/>
        <p:txBody>
          <a:bodyPr/>
          <a:lstStyle/>
          <a:p>
            <a:fld id="{D6C1EC16-718C-49E3-8C8A-5067CA630D78}" type="datetimeFigureOut">
              <a:rPr lang="en-US" smtClean="0"/>
              <a:t>9/6/2020</a:t>
            </a:fld>
            <a:endParaRPr lang="en-US"/>
          </a:p>
        </p:txBody>
      </p:sp>
      <p:sp>
        <p:nvSpPr>
          <p:cNvPr id="5" name="Footer Placeholder 4">
            <a:extLst>
              <a:ext uri="{FF2B5EF4-FFF2-40B4-BE49-F238E27FC236}">
                <a16:creationId xmlns:a16="http://schemas.microsoft.com/office/drawing/2014/main" id="{AEEBA607-796B-4BA5-8AD5-D385174F40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A92B98-E0D4-454B-B3C6-1328C3D7D567}"/>
              </a:ext>
            </a:extLst>
          </p:cNvPr>
          <p:cNvSpPr>
            <a:spLocks noGrp="1"/>
          </p:cNvSpPr>
          <p:nvPr>
            <p:ph type="sldNum" sz="quarter" idx="12"/>
          </p:nvPr>
        </p:nvSpPr>
        <p:spPr/>
        <p:txBody>
          <a:bodyPr/>
          <a:lstStyle/>
          <a:p>
            <a:fld id="{A11EB424-5727-4371-A3D2-110854578BA9}" type="slidenum">
              <a:rPr lang="en-US" smtClean="0"/>
              <a:t>‹#›</a:t>
            </a:fld>
            <a:endParaRPr lang="en-US"/>
          </a:p>
        </p:txBody>
      </p:sp>
    </p:spTree>
    <p:extLst>
      <p:ext uri="{BB962C8B-B14F-4D97-AF65-F5344CB8AC3E}">
        <p14:creationId xmlns:p14="http://schemas.microsoft.com/office/powerpoint/2010/main" val="766258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AA555-DBB1-426D-802B-DB599A529A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AEDB0B-BA48-4241-974A-7DAA79DD84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404332-B8E2-4D1C-B2BF-D1BBD27D47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8C1064-C2C5-4A40-94FC-F04C10AFB1AB}"/>
              </a:ext>
            </a:extLst>
          </p:cNvPr>
          <p:cNvSpPr>
            <a:spLocks noGrp="1"/>
          </p:cNvSpPr>
          <p:nvPr>
            <p:ph type="dt" sz="half" idx="10"/>
          </p:nvPr>
        </p:nvSpPr>
        <p:spPr/>
        <p:txBody>
          <a:bodyPr/>
          <a:lstStyle/>
          <a:p>
            <a:fld id="{D6C1EC16-718C-49E3-8C8A-5067CA630D78}" type="datetimeFigureOut">
              <a:rPr lang="en-US" smtClean="0"/>
              <a:t>9/6/2020</a:t>
            </a:fld>
            <a:endParaRPr lang="en-US"/>
          </a:p>
        </p:txBody>
      </p:sp>
      <p:sp>
        <p:nvSpPr>
          <p:cNvPr id="6" name="Footer Placeholder 5">
            <a:extLst>
              <a:ext uri="{FF2B5EF4-FFF2-40B4-BE49-F238E27FC236}">
                <a16:creationId xmlns:a16="http://schemas.microsoft.com/office/drawing/2014/main" id="{ED033C9B-1515-48F5-A5FB-745D9251DF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A50CBA-202E-4480-8243-924C658F6D72}"/>
              </a:ext>
            </a:extLst>
          </p:cNvPr>
          <p:cNvSpPr>
            <a:spLocks noGrp="1"/>
          </p:cNvSpPr>
          <p:nvPr>
            <p:ph type="sldNum" sz="quarter" idx="12"/>
          </p:nvPr>
        </p:nvSpPr>
        <p:spPr/>
        <p:txBody>
          <a:bodyPr/>
          <a:lstStyle/>
          <a:p>
            <a:fld id="{A11EB424-5727-4371-A3D2-110854578BA9}" type="slidenum">
              <a:rPr lang="en-US" smtClean="0"/>
              <a:t>‹#›</a:t>
            </a:fld>
            <a:endParaRPr lang="en-US"/>
          </a:p>
        </p:txBody>
      </p:sp>
    </p:spTree>
    <p:extLst>
      <p:ext uri="{BB962C8B-B14F-4D97-AF65-F5344CB8AC3E}">
        <p14:creationId xmlns:p14="http://schemas.microsoft.com/office/powerpoint/2010/main" val="2670042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BC16F-1A9E-4CDB-9DE4-D35D88950F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E1EAEF-4E09-4229-87E1-F2B481AD35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349812-6E7B-4408-9B01-35202D8467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A60C4C-D205-4ED7-A8D8-4472D7D23F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52D858-4763-4A71-912E-A8DF3DEECA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B8621B-48DC-494F-BC86-437A52DD6100}"/>
              </a:ext>
            </a:extLst>
          </p:cNvPr>
          <p:cNvSpPr>
            <a:spLocks noGrp="1"/>
          </p:cNvSpPr>
          <p:nvPr>
            <p:ph type="dt" sz="half" idx="10"/>
          </p:nvPr>
        </p:nvSpPr>
        <p:spPr/>
        <p:txBody>
          <a:bodyPr/>
          <a:lstStyle/>
          <a:p>
            <a:fld id="{D6C1EC16-718C-49E3-8C8A-5067CA630D78}" type="datetimeFigureOut">
              <a:rPr lang="en-US" smtClean="0"/>
              <a:t>9/6/2020</a:t>
            </a:fld>
            <a:endParaRPr lang="en-US"/>
          </a:p>
        </p:txBody>
      </p:sp>
      <p:sp>
        <p:nvSpPr>
          <p:cNvPr id="8" name="Footer Placeholder 7">
            <a:extLst>
              <a:ext uri="{FF2B5EF4-FFF2-40B4-BE49-F238E27FC236}">
                <a16:creationId xmlns:a16="http://schemas.microsoft.com/office/drawing/2014/main" id="{984AA85E-6E21-437D-9706-04393863ED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7DC9BF3-056E-4688-99E1-60ECAB5398EE}"/>
              </a:ext>
            </a:extLst>
          </p:cNvPr>
          <p:cNvSpPr>
            <a:spLocks noGrp="1"/>
          </p:cNvSpPr>
          <p:nvPr>
            <p:ph type="sldNum" sz="quarter" idx="12"/>
          </p:nvPr>
        </p:nvSpPr>
        <p:spPr/>
        <p:txBody>
          <a:bodyPr/>
          <a:lstStyle/>
          <a:p>
            <a:fld id="{A11EB424-5727-4371-A3D2-110854578BA9}" type="slidenum">
              <a:rPr lang="en-US" smtClean="0"/>
              <a:t>‹#›</a:t>
            </a:fld>
            <a:endParaRPr lang="en-US"/>
          </a:p>
        </p:txBody>
      </p:sp>
    </p:spTree>
    <p:extLst>
      <p:ext uri="{BB962C8B-B14F-4D97-AF65-F5344CB8AC3E}">
        <p14:creationId xmlns:p14="http://schemas.microsoft.com/office/powerpoint/2010/main" val="1772161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92F97-B86A-408C-89D4-1AAD16C9B1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44D642-37D6-4B38-9AF9-174321D9106E}"/>
              </a:ext>
            </a:extLst>
          </p:cNvPr>
          <p:cNvSpPr>
            <a:spLocks noGrp="1"/>
          </p:cNvSpPr>
          <p:nvPr>
            <p:ph type="dt" sz="half" idx="10"/>
          </p:nvPr>
        </p:nvSpPr>
        <p:spPr/>
        <p:txBody>
          <a:bodyPr/>
          <a:lstStyle/>
          <a:p>
            <a:fld id="{D6C1EC16-718C-49E3-8C8A-5067CA630D78}" type="datetimeFigureOut">
              <a:rPr lang="en-US" smtClean="0"/>
              <a:t>9/6/2020</a:t>
            </a:fld>
            <a:endParaRPr lang="en-US"/>
          </a:p>
        </p:txBody>
      </p:sp>
      <p:sp>
        <p:nvSpPr>
          <p:cNvPr id="4" name="Footer Placeholder 3">
            <a:extLst>
              <a:ext uri="{FF2B5EF4-FFF2-40B4-BE49-F238E27FC236}">
                <a16:creationId xmlns:a16="http://schemas.microsoft.com/office/drawing/2014/main" id="{5FE86D9F-E9BD-41CB-A94C-B45B4DDB9A2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8BD232-14A5-41C0-BAEA-D37701A8C2D8}"/>
              </a:ext>
            </a:extLst>
          </p:cNvPr>
          <p:cNvSpPr>
            <a:spLocks noGrp="1"/>
          </p:cNvSpPr>
          <p:nvPr>
            <p:ph type="sldNum" sz="quarter" idx="12"/>
          </p:nvPr>
        </p:nvSpPr>
        <p:spPr/>
        <p:txBody>
          <a:bodyPr/>
          <a:lstStyle/>
          <a:p>
            <a:fld id="{A11EB424-5727-4371-A3D2-110854578BA9}" type="slidenum">
              <a:rPr lang="en-US" smtClean="0"/>
              <a:t>‹#›</a:t>
            </a:fld>
            <a:endParaRPr lang="en-US"/>
          </a:p>
        </p:txBody>
      </p:sp>
    </p:spTree>
    <p:extLst>
      <p:ext uri="{BB962C8B-B14F-4D97-AF65-F5344CB8AC3E}">
        <p14:creationId xmlns:p14="http://schemas.microsoft.com/office/powerpoint/2010/main" val="4287591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1893B3-FBA6-434B-BA8E-71ED1F8F0193}"/>
              </a:ext>
            </a:extLst>
          </p:cNvPr>
          <p:cNvSpPr>
            <a:spLocks noGrp="1"/>
          </p:cNvSpPr>
          <p:nvPr>
            <p:ph type="dt" sz="half" idx="10"/>
          </p:nvPr>
        </p:nvSpPr>
        <p:spPr/>
        <p:txBody>
          <a:bodyPr/>
          <a:lstStyle/>
          <a:p>
            <a:fld id="{D6C1EC16-718C-49E3-8C8A-5067CA630D78}" type="datetimeFigureOut">
              <a:rPr lang="en-US" smtClean="0"/>
              <a:t>9/6/2020</a:t>
            </a:fld>
            <a:endParaRPr lang="en-US"/>
          </a:p>
        </p:txBody>
      </p:sp>
      <p:sp>
        <p:nvSpPr>
          <p:cNvPr id="3" name="Footer Placeholder 2">
            <a:extLst>
              <a:ext uri="{FF2B5EF4-FFF2-40B4-BE49-F238E27FC236}">
                <a16:creationId xmlns:a16="http://schemas.microsoft.com/office/drawing/2014/main" id="{A1F184CE-8134-4C02-9B83-0DAAB49A798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2DA633-A2B7-4BCE-A791-0D7DF767F0D9}"/>
              </a:ext>
            </a:extLst>
          </p:cNvPr>
          <p:cNvSpPr>
            <a:spLocks noGrp="1"/>
          </p:cNvSpPr>
          <p:nvPr>
            <p:ph type="sldNum" sz="quarter" idx="12"/>
          </p:nvPr>
        </p:nvSpPr>
        <p:spPr/>
        <p:txBody>
          <a:bodyPr/>
          <a:lstStyle/>
          <a:p>
            <a:fld id="{A11EB424-5727-4371-A3D2-110854578BA9}" type="slidenum">
              <a:rPr lang="en-US" smtClean="0"/>
              <a:t>‹#›</a:t>
            </a:fld>
            <a:endParaRPr lang="en-US"/>
          </a:p>
        </p:txBody>
      </p:sp>
    </p:spTree>
    <p:extLst>
      <p:ext uri="{BB962C8B-B14F-4D97-AF65-F5344CB8AC3E}">
        <p14:creationId xmlns:p14="http://schemas.microsoft.com/office/powerpoint/2010/main" val="3104932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A6402-E830-4FB9-BE59-386046942F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DC73803-113B-407D-886C-F8EB1F7BEF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6FA623-6C11-4BA7-96F0-7B37C6060B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5123E6-2E7E-467F-BBD1-6D835F790BC8}"/>
              </a:ext>
            </a:extLst>
          </p:cNvPr>
          <p:cNvSpPr>
            <a:spLocks noGrp="1"/>
          </p:cNvSpPr>
          <p:nvPr>
            <p:ph type="dt" sz="half" idx="10"/>
          </p:nvPr>
        </p:nvSpPr>
        <p:spPr/>
        <p:txBody>
          <a:bodyPr/>
          <a:lstStyle/>
          <a:p>
            <a:fld id="{D6C1EC16-718C-49E3-8C8A-5067CA630D78}" type="datetimeFigureOut">
              <a:rPr lang="en-US" smtClean="0"/>
              <a:t>9/6/2020</a:t>
            </a:fld>
            <a:endParaRPr lang="en-US"/>
          </a:p>
        </p:txBody>
      </p:sp>
      <p:sp>
        <p:nvSpPr>
          <p:cNvPr id="6" name="Footer Placeholder 5">
            <a:extLst>
              <a:ext uri="{FF2B5EF4-FFF2-40B4-BE49-F238E27FC236}">
                <a16:creationId xmlns:a16="http://schemas.microsoft.com/office/drawing/2014/main" id="{C13FBB5E-1C3D-4B03-B433-67887D44CA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5C8548-F0C2-4945-9C81-44E0183B5E3B}"/>
              </a:ext>
            </a:extLst>
          </p:cNvPr>
          <p:cNvSpPr>
            <a:spLocks noGrp="1"/>
          </p:cNvSpPr>
          <p:nvPr>
            <p:ph type="sldNum" sz="quarter" idx="12"/>
          </p:nvPr>
        </p:nvSpPr>
        <p:spPr/>
        <p:txBody>
          <a:bodyPr/>
          <a:lstStyle/>
          <a:p>
            <a:fld id="{A11EB424-5727-4371-A3D2-110854578BA9}" type="slidenum">
              <a:rPr lang="en-US" smtClean="0"/>
              <a:t>‹#›</a:t>
            </a:fld>
            <a:endParaRPr lang="en-US"/>
          </a:p>
        </p:txBody>
      </p:sp>
    </p:spTree>
    <p:extLst>
      <p:ext uri="{BB962C8B-B14F-4D97-AF65-F5344CB8AC3E}">
        <p14:creationId xmlns:p14="http://schemas.microsoft.com/office/powerpoint/2010/main" val="3109903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0FAC0-A3AA-4A0B-88F2-DF99B6A24A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B12A19-FF53-42D6-B070-84FD268D9C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441E92-9758-4DAF-B1A3-E257E43495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C234A7-2B61-4F54-83A5-5FD92A903134}"/>
              </a:ext>
            </a:extLst>
          </p:cNvPr>
          <p:cNvSpPr>
            <a:spLocks noGrp="1"/>
          </p:cNvSpPr>
          <p:nvPr>
            <p:ph type="dt" sz="half" idx="10"/>
          </p:nvPr>
        </p:nvSpPr>
        <p:spPr/>
        <p:txBody>
          <a:bodyPr/>
          <a:lstStyle/>
          <a:p>
            <a:fld id="{D6C1EC16-718C-49E3-8C8A-5067CA630D78}" type="datetimeFigureOut">
              <a:rPr lang="en-US" smtClean="0"/>
              <a:t>9/6/2020</a:t>
            </a:fld>
            <a:endParaRPr lang="en-US"/>
          </a:p>
        </p:txBody>
      </p:sp>
      <p:sp>
        <p:nvSpPr>
          <p:cNvPr id="6" name="Footer Placeholder 5">
            <a:extLst>
              <a:ext uri="{FF2B5EF4-FFF2-40B4-BE49-F238E27FC236}">
                <a16:creationId xmlns:a16="http://schemas.microsoft.com/office/drawing/2014/main" id="{761F5414-FFB6-43E7-99ED-1FD2B8D6AF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A2A34C-31B7-4389-9BD3-60FC2F42EA68}"/>
              </a:ext>
            </a:extLst>
          </p:cNvPr>
          <p:cNvSpPr>
            <a:spLocks noGrp="1"/>
          </p:cNvSpPr>
          <p:nvPr>
            <p:ph type="sldNum" sz="quarter" idx="12"/>
          </p:nvPr>
        </p:nvSpPr>
        <p:spPr/>
        <p:txBody>
          <a:bodyPr/>
          <a:lstStyle/>
          <a:p>
            <a:fld id="{A11EB424-5727-4371-A3D2-110854578BA9}" type="slidenum">
              <a:rPr lang="en-US" smtClean="0"/>
              <a:t>‹#›</a:t>
            </a:fld>
            <a:endParaRPr lang="en-US"/>
          </a:p>
        </p:txBody>
      </p:sp>
    </p:spTree>
    <p:extLst>
      <p:ext uri="{BB962C8B-B14F-4D97-AF65-F5344CB8AC3E}">
        <p14:creationId xmlns:p14="http://schemas.microsoft.com/office/powerpoint/2010/main" val="2401979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D378E-5398-4E79-9AB1-4A0A7DA3D6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81CBF56-C4BD-486B-A327-F7D27C7D8C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01176E-B571-4872-A6DB-26D7039F6BCC}"/>
              </a:ext>
            </a:extLst>
          </p:cNvPr>
          <p:cNvSpPr>
            <a:spLocks noGrp="1"/>
          </p:cNvSpPr>
          <p:nvPr>
            <p:ph type="dt" sz="half" idx="10"/>
          </p:nvPr>
        </p:nvSpPr>
        <p:spPr/>
        <p:txBody>
          <a:bodyPr/>
          <a:lstStyle/>
          <a:p>
            <a:fld id="{D6C1EC16-718C-49E3-8C8A-5067CA630D78}" type="datetimeFigureOut">
              <a:rPr lang="en-US" smtClean="0"/>
              <a:t>9/6/2020</a:t>
            </a:fld>
            <a:endParaRPr lang="en-US"/>
          </a:p>
        </p:txBody>
      </p:sp>
      <p:sp>
        <p:nvSpPr>
          <p:cNvPr id="5" name="Footer Placeholder 4">
            <a:extLst>
              <a:ext uri="{FF2B5EF4-FFF2-40B4-BE49-F238E27FC236}">
                <a16:creationId xmlns:a16="http://schemas.microsoft.com/office/drawing/2014/main" id="{1B03714C-5CEB-472D-98F7-E344A21A8D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596882-E14E-402D-BF3B-5439FC0FCD71}"/>
              </a:ext>
            </a:extLst>
          </p:cNvPr>
          <p:cNvSpPr>
            <a:spLocks noGrp="1"/>
          </p:cNvSpPr>
          <p:nvPr>
            <p:ph type="sldNum" sz="quarter" idx="12"/>
          </p:nvPr>
        </p:nvSpPr>
        <p:spPr/>
        <p:txBody>
          <a:bodyPr/>
          <a:lstStyle/>
          <a:p>
            <a:fld id="{A11EB424-5727-4371-A3D2-110854578BA9}" type="slidenum">
              <a:rPr lang="en-US" smtClean="0"/>
              <a:t>‹#›</a:t>
            </a:fld>
            <a:endParaRPr lang="en-US"/>
          </a:p>
        </p:txBody>
      </p:sp>
    </p:spTree>
    <p:extLst>
      <p:ext uri="{BB962C8B-B14F-4D97-AF65-F5344CB8AC3E}">
        <p14:creationId xmlns:p14="http://schemas.microsoft.com/office/powerpoint/2010/main" val="3001491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5F072C-0F69-4ED6-9331-2A8A5D859BF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3F76DD2-AE8B-40FA-A66D-B63738521F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265D35-0476-4658-9226-E2294309F8BA}"/>
              </a:ext>
            </a:extLst>
          </p:cNvPr>
          <p:cNvSpPr>
            <a:spLocks noGrp="1"/>
          </p:cNvSpPr>
          <p:nvPr>
            <p:ph type="dt" sz="half" idx="10"/>
          </p:nvPr>
        </p:nvSpPr>
        <p:spPr/>
        <p:txBody>
          <a:bodyPr/>
          <a:lstStyle/>
          <a:p>
            <a:fld id="{D6C1EC16-718C-49E3-8C8A-5067CA630D78}" type="datetimeFigureOut">
              <a:rPr lang="en-US" smtClean="0"/>
              <a:t>9/6/2020</a:t>
            </a:fld>
            <a:endParaRPr lang="en-US"/>
          </a:p>
        </p:txBody>
      </p:sp>
      <p:sp>
        <p:nvSpPr>
          <p:cNvPr id="5" name="Footer Placeholder 4">
            <a:extLst>
              <a:ext uri="{FF2B5EF4-FFF2-40B4-BE49-F238E27FC236}">
                <a16:creationId xmlns:a16="http://schemas.microsoft.com/office/drawing/2014/main" id="{39D08E49-6EA0-41B4-AC51-8FB88648F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464831-65C2-4A33-A903-21BC71FBC917}"/>
              </a:ext>
            </a:extLst>
          </p:cNvPr>
          <p:cNvSpPr>
            <a:spLocks noGrp="1"/>
          </p:cNvSpPr>
          <p:nvPr>
            <p:ph type="sldNum" sz="quarter" idx="12"/>
          </p:nvPr>
        </p:nvSpPr>
        <p:spPr/>
        <p:txBody>
          <a:bodyPr/>
          <a:lstStyle/>
          <a:p>
            <a:fld id="{A11EB424-5727-4371-A3D2-110854578BA9}" type="slidenum">
              <a:rPr lang="en-US" smtClean="0"/>
              <a:t>‹#›</a:t>
            </a:fld>
            <a:endParaRPr lang="en-US"/>
          </a:p>
        </p:txBody>
      </p:sp>
    </p:spTree>
    <p:extLst>
      <p:ext uri="{BB962C8B-B14F-4D97-AF65-F5344CB8AC3E}">
        <p14:creationId xmlns:p14="http://schemas.microsoft.com/office/powerpoint/2010/main" val="3175682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64499A-A2C1-4273-96B3-C703B865A0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55EB77-3131-4117-B861-EAD42FB517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14DDA9-9C67-4AD0-BEDF-2697C04113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C1EC16-718C-49E3-8C8A-5067CA630D78}" type="datetimeFigureOut">
              <a:rPr lang="en-US" smtClean="0"/>
              <a:t>9/6/2020</a:t>
            </a:fld>
            <a:endParaRPr lang="en-US"/>
          </a:p>
        </p:txBody>
      </p:sp>
      <p:sp>
        <p:nvSpPr>
          <p:cNvPr id="5" name="Footer Placeholder 4">
            <a:extLst>
              <a:ext uri="{FF2B5EF4-FFF2-40B4-BE49-F238E27FC236}">
                <a16:creationId xmlns:a16="http://schemas.microsoft.com/office/drawing/2014/main" id="{5A46E59E-C0F7-4488-8EC7-BD4937156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BD9D083-FA30-49D3-BC0A-7829A47C86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1EB424-5727-4371-A3D2-110854578BA9}" type="slidenum">
              <a:rPr lang="en-US" smtClean="0"/>
              <a:t>‹#›</a:t>
            </a:fld>
            <a:endParaRPr lang="en-US"/>
          </a:p>
        </p:txBody>
      </p:sp>
    </p:spTree>
    <p:extLst>
      <p:ext uri="{BB962C8B-B14F-4D97-AF65-F5344CB8AC3E}">
        <p14:creationId xmlns:p14="http://schemas.microsoft.com/office/powerpoint/2010/main" val="20343037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1FCB9-E8CB-4F5F-88B2-60B8EA0A2CC9}"/>
              </a:ext>
            </a:extLst>
          </p:cNvPr>
          <p:cNvSpPr>
            <a:spLocks noGrp="1"/>
          </p:cNvSpPr>
          <p:nvPr>
            <p:ph type="ctrTitle"/>
          </p:nvPr>
        </p:nvSpPr>
        <p:spPr/>
        <p:txBody>
          <a:bodyPr/>
          <a:lstStyle/>
          <a:p>
            <a:r>
              <a:rPr lang="en-US" dirty="0"/>
              <a:t>Big Mountain</a:t>
            </a:r>
          </a:p>
        </p:txBody>
      </p:sp>
      <p:sp>
        <p:nvSpPr>
          <p:cNvPr id="3" name="Subtitle 2">
            <a:extLst>
              <a:ext uri="{FF2B5EF4-FFF2-40B4-BE49-F238E27FC236}">
                <a16:creationId xmlns:a16="http://schemas.microsoft.com/office/drawing/2014/main" id="{5FA610D5-1351-4DC3-9C30-9372D84250E0}"/>
              </a:ext>
            </a:extLst>
          </p:cNvPr>
          <p:cNvSpPr>
            <a:spLocks noGrp="1"/>
          </p:cNvSpPr>
          <p:nvPr>
            <p:ph type="subTitle" idx="1"/>
          </p:nvPr>
        </p:nvSpPr>
        <p:spPr/>
        <p:txBody>
          <a:bodyPr/>
          <a:lstStyle/>
          <a:p>
            <a:r>
              <a:rPr lang="en-US" dirty="0"/>
              <a:t>Proper pricing for an elite Ski Resort</a:t>
            </a:r>
          </a:p>
        </p:txBody>
      </p:sp>
    </p:spTree>
    <p:extLst>
      <p:ext uri="{BB962C8B-B14F-4D97-AF65-F5344CB8AC3E}">
        <p14:creationId xmlns:p14="http://schemas.microsoft.com/office/powerpoint/2010/main" val="2803252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55003-F3D8-4647-8C41-D7D520ADB3BC}"/>
              </a:ext>
            </a:extLst>
          </p:cNvPr>
          <p:cNvSpPr>
            <a:spLocks noGrp="1"/>
          </p:cNvSpPr>
          <p:nvPr>
            <p:ph type="title"/>
          </p:nvPr>
        </p:nvSpPr>
        <p:spPr/>
        <p:txBody>
          <a:bodyPr/>
          <a:lstStyle/>
          <a:p>
            <a:r>
              <a:rPr lang="en-US" dirty="0"/>
              <a:t>Problem/ Data set</a:t>
            </a:r>
          </a:p>
        </p:txBody>
      </p:sp>
      <p:sp>
        <p:nvSpPr>
          <p:cNvPr id="3" name="Content Placeholder 2">
            <a:extLst>
              <a:ext uri="{FF2B5EF4-FFF2-40B4-BE49-F238E27FC236}">
                <a16:creationId xmlns:a16="http://schemas.microsoft.com/office/drawing/2014/main" id="{46DDF2E3-68EC-4E15-92E5-B27BCB3A2329}"/>
              </a:ext>
            </a:extLst>
          </p:cNvPr>
          <p:cNvSpPr>
            <a:spLocks noGrp="1"/>
          </p:cNvSpPr>
          <p:nvPr>
            <p:ph idx="1"/>
          </p:nvPr>
        </p:nvSpPr>
        <p:spPr/>
        <p:txBody>
          <a:bodyPr/>
          <a:lstStyle/>
          <a:p>
            <a:pPr marL="0" indent="0">
              <a:buNone/>
            </a:pPr>
            <a:r>
              <a:rPr lang="en-US" sz="1600" b="1" dirty="0">
                <a:solidFill>
                  <a:srgbClr val="000000"/>
                </a:solidFill>
                <a:latin typeface="Arial"/>
                <a:ea typeface="Arial"/>
                <a:cs typeface="Arial"/>
                <a:sym typeface="Arial"/>
              </a:rPr>
              <a:t>You have a top of the line Ski resort and you are charging industry average ticket prices. </a:t>
            </a:r>
          </a:p>
          <a:p>
            <a:pPr marL="0" indent="0">
              <a:buNone/>
            </a:pPr>
            <a:r>
              <a:rPr lang="en-US" sz="1600" b="1" i="0" u="none" strike="noStrike" cap="none" dirty="0">
                <a:solidFill>
                  <a:srgbClr val="000000"/>
                </a:solidFill>
                <a:latin typeface="Arial"/>
                <a:ea typeface="Arial"/>
                <a:cs typeface="Arial"/>
                <a:sym typeface="Arial"/>
              </a:rPr>
              <a:t>How do we better measure the value of key facilities in Big Mountain in order to accurately price Tickets before next season?</a:t>
            </a:r>
          </a:p>
          <a:p>
            <a:pPr marL="0" indent="0">
              <a:buNone/>
            </a:pPr>
            <a:r>
              <a:rPr lang="en-US" sz="1600" b="1" i="0" u="none" strike="noStrike" cap="none" dirty="0">
                <a:solidFill>
                  <a:srgbClr val="000000"/>
                </a:solidFill>
                <a:latin typeface="Arial"/>
                <a:ea typeface="Arial"/>
                <a:cs typeface="Arial"/>
                <a:sym typeface="Arial"/>
              </a:rPr>
              <a:t>We have a great Data set that specifies 27 different features of 330 different ski resorts. </a:t>
            </a:r>
            <a:endParaRPr lang="en-US" sz="1600" b="1" dirty="0">
              <a:solidFill>
                <a:srgbClr val="000000"/>
              </a:solidFill>
              <a:latin typeface="Arial"/>
              <a:ea typeface="Arial"/>
              <a:cs typeface="Arial"/>
              <a:sym typeface="Arial"/>
            </a:endParaRPr>
          </a:p>
          <a:p>
            <a:pPr marL="0" indent="0">
              <a:buNone/>
            </a:pPr>
            <a:r>
              <a:rPr lang="en-US" sz="1600" b="1" dirty="0">
                <a:solidFill>
                  <a:srgbClr val="000000"/>
                </a:solidFill>
                <a:latin typeface="Arial"/>
                <a:ea typeface="Arial"/>
                <a:cs typeface="Arial"/>
                <a:sym typeface="Arial"/>
              </a:rPr>
              <a:t>Resorts are split into Regions and States which can help us to determine a good price based on northwestern ski lodges </a:t>
            </a:r>
            <a:endParaRPr lang="en-US" sz="1600" b="1" i="0" u="none" strike="noStrike" cap="none" dirty="0">
              <a:solidFill>
                <a:srgbClr val="000000"/>
              </a:solidFill>
              <a:latin typeface="Arial"/>
              <a:ea typeface="Arial"/>
              <a:cs typeface="Arial"/>
              <a:sym typeface="Arial"/>
            </a:endParaRPr>
          </a:p>
          <a:p>
            <a:pPr marL="0" indent="0">
              <a:buNone/>
            </a:pPr>
            <a:endParaRPr lang="en-US" sz="1600" b="1" dirty="0">
              <a:solidFill>
                <a:srgbClr val="000000"/>
              </a:solidFill>
              <a:latin typeface="Arial"/>
              <a:ea typeface="Arial"/>
              <a:cs typeface="Arial"/>
              <a:sym typeface="Arial"/>
            </a:endParaRPr>
          </a:p>
          <a:p>
            <a:pPr marL="0" indent="0">
              <a:buNone/>
            </a:pPr>
            <a:r>
              <a:rPr lang="en-US" sz="1600" b="1" i="0" u="none" strike="noStrike" cap="none" dirty="0">
                <a:solidFill>
                  <a:srgbClr val="000000"/>
                </a:solidFill>
                <a:latin typeface="Arial"/>
                <a:ea typeface="Arial"/>
                <a:cs typeface="Arial"/>
                <a:sym typeface="Arial"/>
              </a:rPr>
              <a:t>The Data set gives us ticket prices for the majority of the ski resorts so we can estimate </a:t>
            </a:r>
            <a:r>
              <a:rPr lang="en-US" sz="1600" b="1" dirty="0">
                <a:solidFill>
                  <a:srgbClr val="000000"/>
                </a:solidFill>
                <a:latin typeface="Arial"/>
                <a:ea typeface="Arial"/>
                <a:cs typeface="Arial"/>
                <a:sym typeface="Arial"/>
              </a:rPr>
              <a:t>an optimized Big mountain ticket price based on its features. </a:t>
            </a:r>
          </a:p>
          <a:p>
            <a:pPr marL="0" indent="0">
              <a:buNone/>
            </a:pPr>
            <a:endParaRPr lang="en-US" sz="1600" b="1" i="0" u="none" strike="noStrike" cap="none" dirty="0">
              <a:solidFill>
                <a:srgbClr val="000000"/>
              </a:solidFill>
              <a:latin typeface="Arial"/>
              <a:ea typeface="Arial"/>
              <a:cs typeface="Arial"/>
              <a:sym typeface="Arial"/>
            </a:endParaRPr>
          </a:p>
          <a:p>
            <a:endParaRPr lang="en-US" dirty="0"/>
          </a:p>
        </p:txBody>
      </p:sp>
    </p:spTree>
    <p:extLst>
      <p:ext uri="{BB962C8B-B14F-4D97-AF65-F5344CB8AC3E}">
        <p14:creationId xmlns:p14="http://schemas.microsoft.com/office/powerpoint/2010/main" val="1094691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85836-85AE-4963-B0C6-8FC75E2F9433}"/>
              </a:ext>
            </a:extLst>
          </p:cNvPr>
          <p:cNvSpPr>
            <a:spLocks noGrp="1"/>
          </p:cNvSpPr>
          <p:nvPr>
            <p:ph type="title"/>
          </p:nvPr>
        </p:nvSpPr>
        <p:spPr/>
        <p:txBody>
          <a:bodyPr/>
          <a:lstStyle/>
          <a:p>
            <a:r>
              <a:rPr lang="en-US" dirty="0"/>
              <a:t>Recommendation</a:t>
            </a:r>
          </a:p>
        </p:txBody>
      </p:sp>
      <p:sp>
        <p:nvSpPr>
          <p:cNvPr id="3" name="Content Placeholder 2">
            <a:extLst>
              <a:ext uri="{FF2B5EF4-FFF2-40B4-BE49-F238E27FC236}">
                <a16:creationId xmlns:a16="http://schemas.microsoft.com/office/drawing/2014/main" id="{5AA815EA-8E1E-4560-8CF7-7E3D48F5A969}"/>
              </a:ext>
            </a:extLst>
          </p:cNvPr>
          <p:cNvSpPr>
            <a:spLocks noGrp="1"/>
          </p:cNvSpPr>
          <p:nvPr>
            <p:ph idx="1"/>
          </p:nvPr>
        </p:nvSpPr>
        <p:spPr/>
        <p:txBody>
          <a:bodyPr/>
          <a:lstStyle/>
          <a:p>
            <a:r>
              <a:rPr lang="en-US" dirty="0"/>
              <a:t>We recommend an increase of $10 per ticket and a possible decrease in the number triple and double runs to save costs.</a:t>
            </a:r>
          </a:p>
          <a:p>
            <a:endParaRPr lang="en-US" dirty="0"/>
          </a:p>
          <a:p>
            <a:r>
              <a:rPr lang="en-US" dirty="0"/>
              <a:t>We make this recommendation based on the modelling we have done to isolate the most important features and use them to predict the optimal price of Big Mountain tickets</a:t>
            </a:r>
          </a:p>
        </p:txBody>
      </p:sp>
    </p:spTree>
    <p:extLst>
      <p:ext uri="{BB962C8B-B14F-4D97-AF65-F5344CB8AC3E}">
        <p14:creationId xmlns:p14="http://schemas.microsoft.com/office/powerpoint/2010/main" val="3601239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C1A00-D947-4041-A675-9DA75C31804F}"/>
              </a:ext>
            </a:extLst>
          </p:cNvPr>
          <p:cNvSpPr>
            <a:spLocks noGrp="1"/>
          </p:cNvSpPr>
          <p:nvPr>
            <p:ph type="title"/>
          </p:nvPr>
        </p:nvSpPr>
        <p:spPr/>
        <p:txBody>
          <a:bodyPr/>
          <a:lstStyle/>
          <a:p>
            <a:r>
              <a:rPr lang="en-US" dirty="0"/>
              <a:t>Most important features</a:t>
            </a:r>
          </a:p>
        </p:txBody>
      </p:sp>
      <p:sp>
        <p:nvSpPr>
          <p:cNvPr id="3" name="Content Placeholder 2">
            <a:extLst>
              <a:ext uri="{FF2B5EF4-FFF2-40B4-BE49-F238E27FC236}">
                <a16:creationId xmlns:a16="http://schemas.microsoft.com/office/drawing/2014/main" id="{49C8DFA0-D4CB-4004-A2BE-CBBBC02559C0}"/>
              </a:ext>
            </a:extLst>
          </p:cNvPr>
          <p:cNvSpPr>
            <a:spLocks noGrp="1"/>
          </p:cNvSpPr>
          <p:nvPr>
            <p:ph idx="1"/>
          </p:nvPr>
        </p:nvSpPr>
        <p:spPr/>
        <p:txBody>
          <a:bodyPr/>
          <a:lstStyle/>
          <a:p>
            <a:pPr algn="l">
              <a:buFont typeface="Arial" panose="020B0604020202020204" pitchFamily="34" charset="0"/>
              <a:buChar char="•"/>
            </a:pPr>
            <a:r>
              <a:rPr lang="en-US" b="0" i="0" dirty="0" err="1">
                <a:solidFill>
                  <a:srgbClr val="000000"/>
                </a:solidFill>
                <a:effectLst/>
                <a:latin typeface="Helvetica Neue"/>
              </a:rPr>
              <a:t>vertical_drop</a:t>
            </a:r>
            <a:endParaRPr lang="en-US" b="0" i="0" dirty="0">
              <a:solidFill>
                <a:srgbClr val="000000"/>
              </a:solidFill>
              <a:effectLst/>
              <a:latin typeface="Helvetica Neue"/>
            </a:endParaRPr>
          </a:p>
          <a:p>
            <a:pPr algn="l">
              <a:buFont typeface="Arial" panose="020B0604020202020204" pitchFamily="34" charset="0"/>
              <a:buChar char="•"/>
            </a:pPr>
            <a:r>
              <a:rPr lang="en-US" b="0" i="0" dirty="0">
                <a:solidFill>
                  <a:srgbClr val="000000"/>
                </a:solidFill>
                <a:effectLst/>
                <a:latin typeface="Helvetica Neue"/>
              </a:rPr>
              <a:t>Snow </a:t>
            </a:r>
            <a:r>
              <a:rPr lang="en-US" b="0" i="0" dirty="0" err="1">
                <a:solidFill>
                  <a:srgbClr val="000000"/>
                </a:solidFill>
                <a:effectLst/>
                <a:latin typeface="Helvetica Neue"/>
              </a:rPr>
              <a:t>Making_ac</a:t>
            </a:r>
            <a:endParaRPr lang="en-US" b="0" i="0" dirty="0">
              <a:solidFill>
                <a:srgbClr val="000000"/>
              </a:solidFill>
              <a:effectLst/>
              <a:latin typeface="Helvetica Neue"/>
            </a:endParaRPr>
          </a:p>
          <a:p>
            <a:pPr algn="l">
              <a:buFont typeface="Arial" panose="020B0604020202020204" pitchFamily="34" charset="0"/>
              <a:buChar char="•"/>
            </a:pPr>
            <a:r>
              <a:rPr lang="en-US" b="0" i="0" dirty="0" err="1">
                <a:solidFill>
                  <a:srgbClr val="000000"/>
                </a:solidFill>
                <a:effectLst/>
                <a:latin typeface="Helvetica Neue"/>
              </a:rPr>
              <a:t>total_chairs</a:t>
            </a:r>
            <a:endParaRPr lang="en-US" b="0" i="0" dirty="0">
              <a:solidFill>
                <a:srgbClr val="000000"/>
              </a:solidFill>
              <a:effectLst/>
              <a:latin typeface="Helvetica Neue"/>
            </a:endParaRPr>
          </a:p>
          <a:p>
            <a:pPr algn="l">
              <a:buFont typeface="Arial" panose="020B0604020202020204" pitchFamily="34" charset="0"/>
              <a:buChar char="•"/>
            </a:pPr>
            <a:r>
              <a:rPr lang="en-US" b="0" i="0" dirty="0" err="1">
                <a:solidFill>
                  <a:srgbClr val="000000"/>
                </a:solidFill>
                <a:effectLst/>
                <a:latin typeface="Helvetica Neue"/>
              </a:rPr>
              <a:t>fastQuads</a:t>
            </a:r>
            <a:endParaRPr lang="en-US" b="0" i="0" dirty="0">
              <a:solidFill>
                <a:srgbClr val="000000"/>
              </a:solidFill>
              <a:effectLst/>
              <a:latin typeface="Helvetica Neue"/>
            </a:endParaRPr>
          </a:p>
          <a:p>
            <a:pPr algn="l">
              <a:buFont typeface="Arial" panose="020B0604020202020204" pitchFamily="34" charset="0"/>
              <a:buChar char="•"/>
            </a:pPr>
            <a:r>
              <a:rPr lang="en-US" b="0" i="0" dirty="0">
                <a:solidFill>
                  <a:srgbClr val="000000"/>
                </a:solidFill>
                <a:effectLst/>
                <a:latin typeface="Helvetica Neue"/>
              </a:rPr>
              <a:t>Runs</a:t>
            </a:r>
          </a:p>
          <a:p>
            <a:pPr algn="l">
              <a:buFont typeface="Arial" panose="020B0604020202020204" pitchFamily="34" charset="0"/>
              <a:buChar char="•"/>
            </a:pPr>
            <a:r>
              <a:rPr lang="en-US" b="0" i="0" dirty="0" err="1">
                <a:solidFill>
                  <a:srgbClr val="000000"/>
                </a:solidFill>
                <a:effectLst/>
                <a:latin typeface="Helvetica Neue"/>
              </a:rPr>
              <a:t>LongestRun_mi</a:t>
            </a:r>
            <a:endParaRPr lang="en-US" b="0" i="0" dirty="0">
              <a:solidFill>
                <a:srgbClr val="000000"/>
              </a:solidFill>
              <a:effectLst/>
              <a:latin typeface="Helvetica Neue"/>
            </a:endParaRPr>
          </a:p>
          <a:p>
            <a:pPr algn="l">
              <a:buFont typeface="Arial" panose="020B0604020202020204" pitchFamily="34" charset="0"/>
              <a:buChar char="•"/>
            </a:pPr>
            <a:r>
              <a:rPr lang="en-US" b="0" i="0" dirty="0">
                <a:solidFill>
                  <a:srgbClr val="000000"/>
                </a:solidFill>
                <a:effectLst/>
                <a:latin typeface="Helvetica Neue"/>
              </a:rPr>
              <a:t>trams</a:t>
            </a:r>
          </a:p>
          <a:p>
            <a:pPr algn="l">
              <a:buFont typeface="Arial" panose="020B0604020202020204" pitchFamily="34" charset="0"/>
              <a:buChar char="•"/>
            </a:pPr>
            <a:r>
              <a:rPr lang="en-US" b="0" i="0" dirty="0" err="1">
                <a:solidFill>
                  <a:srgbClr val="000000"/>
                </a:solidFill>
                <a:effectLst/>
                <a:latin typeface="Helvetica Neue"/>
              </a:rPr>
              <a:t>SkiableTerrain_ac</a:t>
            </a:r>
            <a:endParaRPr lang="en-US" b="0" i="0" dirty="0">
              <a:solidFill>
                <a:srgbClr val="000000"/>
              </a:solidFill>
              <a:effectLst/>
              <a:latin typeface="Helvetica Neue"/>
            </a:endParaRPr>
          </a:p>
          <a:p>
            <a:endParaRPr lang="en-US" dirty="0"/>
          </a:p>
        </p:txBody>
      </p:sp>
    </p:spTree>
    <p:extLst>
      <p:ext uri="{BB962C8B-B14F-4D97-AF65-F5344CB8AC3E}">
        <p14:creationId xmlns:p14="http://schemas.microsoft.com/office/powerpoint/2010/main" val="3295922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A006C-BC76-4409-9FEB-EBDC58317D9F}"/>
              </a:ext>
            </a:extLst>
          </p:cNvPr>
          <p:cNvSpPr>
            <a:spLocks noGrp="1"/>
          </p:cNvSpPr>
          <p:nvPr>
            <p:ph type="title"/>
          </p:nvPr>
        </p:nvSpPr>
        <p:spPr/>
        <p:txBody>
          <a:bodyPr/>
          <a:lstStyle/>
          <a:p>
            <a:r>
              <a:rPr lang="en-US" dirty="0"/>
              <a:t>Features of the Data set</a:t>
            </a:r>
          </a:p>
        </p:txBody>
      </p:sp>
      <p:pic>
        <p:nvPicPr>
          <p:cNvPr id="2049" name="Picture 1">
            <a:extLst>
              <a:ext uri="{FF2B5EF4-FFF2-40B4-BE49-F238E27FC236}">
                <a16:creationId xmlns:a16="http://schemas.microsoft.com/office/drawing/2014/main" id="{0BA2C95F-F0B5-4BCF-8591-9B51C3A36C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271" y="1287432"/>
            <a:ext cx="7262190" cy="557056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0A9E1B5-8406-4076-AB68-D06A5B419173}"/>
              </a:ext>
            </a:extLst>
          </p:cNvPr>
          <p:cNvSpPr txBox="1"/>
          <p:nvPr/>
        </p:nvSpPr>
        <p:spPr>
          <a:xfrm>
            <a:off x="7487478" y="1690688"/>
            <a:ext cx="4426226" cy="2585323"/>
          </a:xfrm>
          <a:prstGeom prst="rect">
            <a:avLst/>
          </a:prstGeom>
          <a:noFill/>
        </p:spPr>
        <p:txBody>
          <a:bodyPr wrap="square" rtlCol="0">
            <a:spAutoFit/>
          </a:bodyPr>
          <a:lstStyle/>
          <a:p>
            <a:r>
              <a:rPr lang="en-US" dirty="0"/>
              <a:t>In this graph we look at how the state of each resort effected the overall price. The State in which the resort is placed accounts for 77.2% of the variance so this is a very important figure. The color code tells us which quartile the price lies. As you can see the price quartile does not seem to affect how many resorts per state there are and what the skiable area is.</a:t>
            </a:r>
          </a:p>
        </p:txBody>
      </p:sp>
    </p:spTree>
    <p:extLst>
      <p:ext uri="{BB962C8B-B14F-4D97-AF65-F5344CB8AC3E}">
        <p14:creationId xmlns:p14="http://schemas.microsoft.com/office/powerpoint/2010/main" val="1478999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C3508-C0EF-4C6C-B6B8-DC1260DC9911}"/>
              </a:ext>
            </a:extLst>
          </p:cNvPr>
          <p:cNvSpPr>
            <a:spLocks noGrp="1"/>
          </p:cNvSpPr>
          <p:nvPr>
            <p:ph type="title"/>
          </p:nvPr>
        </p:nvSpPr>
        <p:spPr/>
        <p:txBody>
          <a:bodyPr/>
          <a:lstStyle/>
          <a:p>
            <a:r>
              <a:rPr lang="en-US" dirty="0"/>
              <a:t>Features</a:t>
            </a:r>
          </a:p>
        </p:txBody>
      </p:sp>
      <p:pic>
        <p:nvPicPr>
          <p:cNvPr id="3074" name="Picture 2">
            <a:extLst>
              <a:ext uri="{FF2B5EF4-FFF2-40B4-BE49-F238E27FC236}">
                <a16:creationId xmlns:a16="http://schemas.microsoft.com/office/drawing/2014/main" id="{F6C3A552-DF00-4687-A525-1A1ABB1C6E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5252" y="0"/>
            <a:ext cx="7381461"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183F732-B9AB-4DF2-A01A-CF7B3721F243}"/>
              </a:ext>
            </a:extLst>
          </p:cNvPr>
          <p:cNvSpPr txBox="1"/>
          <p:nvPr/>
        </p:nvSpPr>
        <p:spPr>
          <a:xfrm>
            <a:off x="838200" y="2080591"/>
            <a:ext cx="3839817" cy="2585323"/>
          </a:xfrm>
          <a:prstGeom prst="rect">
            <a:avLst/>
          </a:prstGeom>
          <a:noFill/>
        </p:spPr>
        <p:txBody>
          <a:bodyPr wrap="square" rtlCol="0">
            <a:spAutoFit/>
          </a:bodyPr>
          <a:lstStyle/>
          <a:p>
            <a:r>
              <a:rPr lang="en-US" dirty="0"/>
              <a:t>The graph here looks at the all the different features of the resort and their relation to ticket price.</a:t>
            </a:r>
          </a:p>
          <a:p>
            <a:r>
              <a:rPr lang="en-US" dirty="0"/>
              <a:t>As you can see there are a few that have no relation however some have obvious correlation.</a:t>
            </a:r>
          </a:p>
          <a:p>
            <a:r>
              <a:rPr lang="en-US" dirty="0"/>
              <a:t>This helps us to focus on summit  elevation, vertical drop, number of runs, fast quads and base elevation.</a:t>
            </a:r>
          </a:p>
        </p:txBody>
      </p:sp>
    </p:spTree>
    <p:extLst>
      <p:ext uri="{BB962C8B-B14F-4D97-AF65-F5344CB8AC3E}">
        <p14:creationId xmlns:p14="http://schemas.microsoft.com/office/powerpoint/2010/main" val="2201962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A5479-4568-429B-AD31-30B3F0877B42}"/>
              </a:ext>
            </a:extLst>
          </p:cNvPr>
          <p:cNvSpPr>
            <a:spLocks noGrp="1"/>
          </p:cNvSpPr>
          <p:nvPr>
            <p:ph type="title"/>
          </p:nvPr>
        </p:nvSpPr>
        <p:spPr>
          <a:xfrm>
            <a:off x="854230" y="280486"/>
            <a:ext cx="10515600" cy="1325563"/>
          </a:xfrm>
        </p:spPr>
        <p:txBody>
          <a:bodyPr/>
          <a:lstStyle/>
          <a:p>
            <a:r>
              <a:rPr lang="en-US" dirty="0"/>
              <a:t>Metrics</a:t>
            </a:r>
          </a:p>
        </p:txBody>
      </p:sp>
      <p:sp>
        <p:nvSpPr>
          <p:cNvPr id="3" name="Content Placeholder 2">
            <a:extLst>
              <a:ext uri="{FF2B5EF4-FFF2-40B4-BE49-F238E27FC236}">
                <a16:creationId xmlns:a16="http://schemas.microsoft.com/office/drawing/2014/main" id="{F20CC7E6-5A23-4FA5-8BAE-1CDAA96CF91F}"/>
              </a:ext>
            </a:extLst>
          </p:cNvPr>
          <p:cNvSpPr>
            <a:spLocks noGrp="1"/>
          </p:cNvSpPr>
          <p:nvPr>
            <p:ph idx="1"/>
          </p:nvPr>
        </p:nvSpPr>
        <p:spPr>
          <a:xfrm>
            <a:off x="838200" y="1962150"/>
            <a:ext cx="10515600" cy="4351338"/>
          </a:xfrm>
        </p:spPr>
        <p:txBody>
          <a:bodyPr/>
          <a:lstStyle/>
          <a:p>
            <a:r>
              <a:rPr lang="en-US" dirty="0"/>
              <a:t>Average price of training Data without a predictive model(strictly the average)= 63.811</a:t>
            </a:r>
          </a:p>
          <a:p>
            <a:r>
              <a:rPr lang="en-US" dirty="0"/>
              <a:t> Mean average error of price(between the training and testing data)= 19.1361</a:t>
            </a:r>
          </a:p>
          <a:p>
            <a:r>
              <a:rPr lang="en-US" dirty="0"/>
              <a:t>Mean Squared Error (between the training and testing data) =581.4365</a:t>
            </a:r>
          </a:p>
          <a:p>
            <a:r>
              <a:rPr lang="en-US" dirty="0"/>
              <a:t>R-squared for the initial model training set vs testing set. = 0.8145(training). 0.73132(testing)</a:t>
            </a:r>
          </a:p>
          <a:p>
            <a:endParaRPr lang="en-US" dirty="0"/>
          </a:p>
        </p:txBody>
      </p:sp>
      <p:sp>
        <p:nvSpPr>
          <p:cNvPr id="6" name="Rectangle 3">
            <a:extLst>
              <a:ext uri="{FF2B5EF4-FFF2-40B4-BE49-F238E27FC236}">
                <a16:creationId xmlns:a16="http://schemas.microsoft.com/office/drawing/2014/main" id="{0A459BBB-1D23-4687-A4AC-77E502AC9BE5}"/>
              </a:ext>
            </a:extLst>
          </p:cNvPr>
          <p:cNvSpPr>
            <a:spLocks noChangeArrowheads="1"/>
          </p:cNvSpPr>
          <p:nvPr/>
        </p:nvSpPr>
        <p:spPr bwMode="auto">
          <a:xfrm>
            <a:off x="0" y="280486"/>
            <a:ext cx="32060" cy="1692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7942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73772-517C-4C80-9BA5-8E31B1975815}"/>
              </a:ext>
            </a:extLst>
          </p:cNvPr>
          <p:cNvSpPr>
            <a:spLocks noGrp="1"/>
          </p:cNvSpPr>
          <p:nvPr>
            <p:ph type="title"/>
          </p:nvPr>
        </p:nvSpPr>
        <p:spPr>
          <a:xfrm>
            <a:off x="249532" y="365125"/>
            <a:ext cx="11104268" cy="1325563"/>
          </a:xfrm>
        </p:spPr>
        <p:txBody>
          <a:bodyPr/>
          <a:lstStyle/>
          <a:p>
            <a:r>
              <a:rPr lang="en-US" dirty="0"/>
              <a:t>CV score</a:t>
            </a:r>
          </a:p>
        </p:txBody>
      </p:sp>
      <p:pic>
        <p:nvPicPr>
          <p:cNvPr id="5122" name="Picture 2">
            <a:extLst>
              <a:ext uri="{FF2B5EF4-FFF2-40B4-BE49-F238E27FC236}">
                <a16:creationId xmlns:a16="http://schemas.microsoft.com/office/drawing/2014/main" id="{F781A888-B954-49CA-AB99-D28BDDCF7EA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33665" y="516834"/>
            <a:ext cx="8908803" cy="482379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0882116-397C-4938-B590-0ED5CAE63BA2}"/>
              </a:ext>
            </a:extLst>
          </p:cNvPr>
          <p:cNvSpPr txBox="1"/>
          <p:nvPr/>
        </p:nvSpPr>
        <p:spPr>
          <a:xfrm>
            <a:off x="402520" y="1789043"/>
            <a:ext cx="2478157" cy="4801314"/>
          </a:xfrm>
          <a:prstGeom prst="rect">
            <a:avLst/>
          </a:prstGeom>
          <a:noFill/>
        </p:spPr>
        <p:txBody>
          <a:bodyPr wrap="square" rtlCol="0">
            <a:spAutoFit/>
          </a:bodyPr>
          <a:lstStyle/>
          <a:p>
            <a:r>
              <a:rPr lang="en-US" dirty="0"/>
              <a:t>This graph shows us the optimal number of features to use in our model. We use the features with the </a:t>
            </a:r>
            <a:r>
              <a:rPr lang="en-US" dirty="0" err="1"/>
              <a:t>the</a:t>
            </a:r>
            <a:r>
              <a:rPr lang="en-US" dirty="0"/>
              <a:t> highest r squared. If we use too may features we risk overfitting.</a:t>
            </a:r>
          </a:p>
          <a:p>
            <a:endParaRPr lang="en-US" dirty="0"/>
          </a:p>
          <a:p>
            <a:r>
              <a:rPr lang="en-US" dirty="0"/>
              <a:t>The model shows us that R squared improves up to 8 features and then declines. The parallel lines tell us the amount of variation that takes place on the testing data.</a:t>
            </a:r>
          </a:p>
        </p:txBody>
      </p:sp>
    </p:spTree>
    <p:extLst>
      <p:ext uri="{BB962C8B-B14F-4D97-AF65-F5344CB8AC3E}">
        <p14:creationId xmlns:p14="http://schemas.microsoft.com/office/powerpoint/2010/main" val="1609179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FBF3A-4116-4CC1-8F16-3FFCE87EDF9A}"/>
              </a:ext>
            </a:extLst>
          </p:cNvPr>
          <p:cNvSpPr>
            <a:spLocks noGrp="1"/>
          </p:cNvSpPr>
          <p:nvPr>
            <p:ph type="title"/>
          </p:nvPr>
        </p:nvSpPr>
        <p:spPr/>
        <p:txBody>
          <a:bodyPr/>
          <a:lstStyle/>
          <a:p>
            <a:r>
              <a:rPr lang="en-US" dirty="0"/>
              <a:t>Pricing Big Mountain</a:t>
            </a:r>
          </a:p>
        </p:txBody>
      </p:sp>
      <p:sp>
        <p:nvSpPr>
          <p:cNvPr id="3" name="Content Placeholder 2">
            <a:extLst>
              <a:ext uri="{FF2B5EF4-FFF2-40B4-BE49-F238E27FC236}">
                <a16:creationId xmlns:a16="http://schemas.microsoft.com/office/drawing/2014/main" id="{6876E168-2DB1-4BC9-80B8-B809D6A3A671}"/>
              </a:ext>
            </a:extLst>
          </p:cNvPr>
          <p:cNvSpPr>
            <a:spLocks noGrp="1"/>
          </p:cNvSpPr>
          <p:nvPr>
            <p:ph idx="1"/>
          </p:nvPr>
        </p:nvSpPr>
        <p:spPr/>
        <p:txBody>
          <a:bodyPr/>
          <a:lstStyle/>
          <a:p>
            <a:pPr marL="0" indent="0">
              <a:buNone/>
            </a:pPr>
            <a:r>
              <a:rPr lang="en-US" dirty="0"/>
              <a:t>Big Mountain Resort modelled price is $95.87, actual price is $81.00.</a:t>
            </a:r>
          </a:p>
          <a:p>
            <a:pPr marL="0" indent="0">
              <a:buNone/>
            </a:pPr>
            <a:r>
              <a:rPr lang="en-US" dirty="0"/>
              <a:t>Even with the expected mean absolute error of $10.39, this suggests there is room for an increase.</a:t>
            </a:r>
          </a:p>
          <a:p>
            <a:pPr marL="0" indent="0">
              <a:buNone/>
            </a:pPr>
            <a:r>
              <a:rPr lang="en-US" dirty="0"/>
              <a:t> </a:t>
            </a:r>
          </a:p>
          <a:p>
            <a:pPr marL="0" indent="0">
              <a:buNone/>
            </a:pPr>
            <a:r>
              <a:rPr lang="en-US" dirty="0"/>
              <a:t>The above gives us great insight because our model is telling us that we could increase ticket pricing for the various amenities of Big Mountain resort. </a:t>
            </a:r>
          </a:p>
        </p:txBody>
      </p:sp>
    </p:spTree>
    <p:extLst>
      <p:ext uri="{BB962C8B-B14F-4D97-AF65-F5344CB8AC3E}">
        <p14:creationId xmlns:p14="http://schemas.microsoft.com/office/powerpoint/2010/main" val="468250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6E725-E0CD-4D74-B013-1BA275212E63}"/>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71FF9C2-ED7F-4F06-89C1-47489DE3EE4E}"/>
              </a:ext>
            </a:extLst>
          </p:cNvPr>
          <p:cNvSpPr>
            <a:spLocks noGrp="1"/>
          </p:cNvSpPr>
          <p:nvPr>
            <p:ph idx="1"/>
          </p:nvPr>
        </p:nvSpPr>
        <p:spPr/>
        <p:txBody>
          <a:bodyPr/>
          <a:lstStyle/>
          <a:p>
            <a:r>
              <a:rPr lang="en-US" dirty="0"/>
              <a:t>We find that the most important features of big mountain are the 8 primary features of the model. After optimizing our model we have discovered that we can increase ticket pricing for big mountain. My suggestion would be an increase of $8.50 per Adult and close the 5 least popular runs at the resort.</a:t>
            </a:r>
          </a:p>
          <a:p>
            <a:endParaRPr lang="en-US" dirty="0"/>
          </a:p>
          <a:p>
            <a:r>
              <a:rPr lang="en-US" dirty="0"/>
              <a:t>We believe this will increase your ticket revenue and still maintain the vast majority of your business.</a:t>
            </a:r>
          </a:p>
        </p:txBody>
      </p:sp>
    </p:spTree>
    <p:extLst>
      <p:ext uri="{BB962C8B-B14F-4D97-AF65-F5344CB8AC3E}">
        <p14:creationId xmlns:p14="http://schemas.microsoft.com/office/powerpoint/2010/main" val="30641950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506</TotalTime>
  <Words>619</Words>
  <Application>Microsoft Office PowerPoint</Application>
  <PresentationFormat>Widescreen</PresentationFormat>
  <Paragraphs>47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Helvetica Neue</vt:lpstr>
      <vt:lpstr>Office Theme</vt:lpstr>
      <vt:lpstr>Big Mountain</vt:lpstr>
      <vt:lpstr>Problem/ Data set</vt:lpstr>
      <vt:lpstr>Recommendation</vt:lpstr>
      <vt:lpstr>Most important features</vt:lpstr>
      <vt:lpstr>Features of the Data set</vt:lpstr>
      <vt:lpstr>Features</vt:lpstr>
      <vt:lpstr>Metrics</vt:lpstr>
      <vt:lpstr>CV score</vt:lpstr>
      <vt:lpstr>Pricing Big Mountain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Mountain</dc:title>
  <dc:creator>Lucian Dellacqua</dc:creator>
  <cp:lastModifiedBy>Lucian Dellacqua</cp:lastModifiedBy>
  <cp:revision>24</cp:revision>
  <dcterms:created xsi:type="dcterms:W3CDTF">2020-09-05T18:58:35Z</dcterms:created>
  <dcterms:modified xsi:type="dcterms:W3CDTF">2020-09-06T16:34:26Z</dcterms:modified>
</cp:coreProperties>
</file>